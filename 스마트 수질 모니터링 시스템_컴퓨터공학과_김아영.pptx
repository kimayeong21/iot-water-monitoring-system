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6" r:id="rId10"/>
    <p:sldId id="263" r:id="rId11"/>
    <p:sldId id="264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993" autoAdjust="0"/>
  </p:normalViewPr>
  <p:slideViewPr>
    <p:cSldViewPr snapToGrid="0">
      <p:cViewPr varScale="1">
        <p:scale>
          <a:sx n="60" d="100"/>
          <a:sy n="60" d="100"/>
        </p:scale>
        <p:origin x="72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131D1-1794-4BDE-8A6B-EF5FD363B6B5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5AA64-4AB8-4932-8F3F-B7A0776734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20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35AA64-4AB8-4932-8F3F-B7A0776734F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460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35AA64-4AB8-4932-8F3F-B7A0776734F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058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00C3C-81AF-A767-9135-1260F5248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2DF1E4-B700-BAE6-A39A-D506BDD3D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B2E773-37F0-CF74-06D5-37F95F691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2491-699B-4B41-B0E5-B276CA9AD00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D1E00C-48FD-C933-E254-5637A734F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2CFEF0-C518-C584-0A67-A4542AED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F8B1-7339-4B0D-A576-3C718D795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07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A7616-9C9B-52A7-1A60-C3EA4E4C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D201DF-C860-9CA0-EBB7-5384F8F96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3AAED7-3E7A-A0F4-842E-230DFEA05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2491-699B-4B41-B0E5-B276CA9AD00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E04BB8-DFC7-1E3A-C648-93601C77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E74418-7643-03D5-F421-AEB61BBB5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F8B1-7339-4B0D-A576-3C718D795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20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E39A2-5E5E-ECE4-45E5-D911801A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3EA41F-EB37-E0D1-1823-73AB78034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0713E1-8168-DCBA-7FA1-DBA7BFF20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2491-699B-4B41-B0E5-B276CA9AD00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4BA72B-A6EB-39FF-5B51-00387F41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4AE33B-BE8B-95EE-CD4B-0870E3A00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F8B1-7339-4B0D-A576-3C718D795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02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1630F-E4E1-032E-640F-ADB7E59C6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E26CCC-1B90-1C86-E88C-0797B1F8E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DD73F8-40A2-8FC2-AECD-97A1027A0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4CE7E1-EDFE-C900-F9D1-14D3A9586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2491-699B-4B41-B0E5-B276CA9AD00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835A28-14A1-1D27-D58B-16C37252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D34DA8-6D80-F3CE-9CA3-D07A0977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F8B1-7339-4B0D-A576-3C718D795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892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9875EA-87F9-A800-D828-A7C00845D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E527CA-56D0-F0EA-0FC3-461F33777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82E5E8-CA87-2F18-897C-9D2DCB413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180E5E-6516-09CB-1049-B518E06E95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F01DA6B-F56B-6FA3-295B-7694605F78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F8AAD11-4B0B-3C6D-7CD1-651E26A82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2491-699B-4B41-B0E5-B276CA9AD00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4612C98-13B8-FEF1-7DC8-378E688F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AC2667-481C-65A7-BAA4-02F0F0721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F8B1-7339-4B0D-A576-3C718D795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01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FA02DD-5DDB-77F7-DA6A-4688FBDBD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C50167-F5CB-CB31-E447-31A064AD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2491-699B-4B41-B0E5-B276CA9AD00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FC4CC4-7254-E95C-68A4-8FB5E9CD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313895-ED3B-3403-D068-4C6B91EF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F8B1-7339-4B0D-A576-3C718D795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83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9BF0FA-5278-2B20-147F-A1E2FA71D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2491-699B-4B41-B0E5-B276CA9AD00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ABF2B5A-8129-9454-37F2-8829B322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404887-0A23-2746-F725-9BAF0356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F8B1-7339-4B0D-A576-3C718D795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67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572A4E-E6B3-57F3-813D-E75C2C04E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C05A16-2B67-6844-9222-BF386045E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EB4975-BD08-FF74-4FBD-80DB1CCFA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933721-EA65-D606-4C48-C4C1DE6BC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2491-699B-4B41-B0E5-B276CA9AD00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499D6E-4148-EF11-612A-464D30023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78675B-5EC1-D826-300F-39923309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F8B1-7339-4B0D-A576-3C718D795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36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8AE45-811E-FA5E-BDE7-F32BF24B0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6594B4-612A-42AA-31FD-ACBB77CA5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39547E-450A-A29D-7B7C-49BCA67F4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061E7B-1F9B-6E1E-CC80-EA1BA8A40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2491-699B-4B41-B0E5-B276CA9AD00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C6E85F-D7DE-1353-852A-279FF7E44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93B12A-2737-2267-7186-01A5903A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F8B1-7339-4B0D-A576-3C718D795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568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ED0165-02B2-808F-54C4-A1D1E805F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084E71-004D-8649-CDAD-7D9DAA347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86D836-9525-9949-7B6E-C77F336AD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2491-699B-4B41-B0E5-B276CA9AD00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96B96E-D70D-740F-F958-F8FA9EC0D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967021-EFC2-1671-50EF-63521209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F8B1-7339-4B0D-A576-3C718D795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03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76E99E0-DB72-77FA-FCF6-BF210B290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B107A0-88AA-DEAB-CECD-8D7CF64EA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A40796-EE3C-1AFC-96AE-001389C4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2491-699B-4B41-B0E5-B276CA9AD00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1B9FD6-2356-AFAC-0E34-25025CE5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506612-8942-6FBC-4368-66A9ABBA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F8B1-7339-4B0D-A576-3C718D795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893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C8BE775-A6C9-EF72-F2FB-92DE9F82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0DC934-5247-87DE-CA39-5A3A4CFB5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B6429A-5BB0-F87D-E99F-A7E8CA690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32491-699B-4B41-B0E5-B276CA9AD00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906332-1508-80BD-6335-E2000108E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850182-3B16-8B35-1F63-DDA1813EE4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3F8B1-7339-4B0D-A576-3C718D795B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49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A4D1A0-0D74-BB66-4689-E967D009E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05269"/>
            <a:ext cx="12192000" cy="238760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한국수자원공사 실시간 수도 수질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시간</a:t>
            </a:r>
            <a:r>
              <a:rPr lang="en-US" altLang="ko-KR" sz="3600" b="1" dirty="0"/>
              <a:t>) </a:t>
            </a:r>
            <a:r>
              <a:rPr lang="ko-KR" altLang="en-US" sz="3600" b="1" dirty="0"/>
              <a:t>조회 서비스 </a:t>
            </a:r>
            <a:r>
              <a:rPr lang="ko-KR" altLang="en-US" sz="3600" b="1" dirty="0" smtClean="0"/>
              <a:t>기반</a:t>
            </a:r>
            <a:r>
              <a:rPr lang="en-US" altLang="ko-KR" sz="4000" dirty="0" smtClean="0"/>
              <a:t/>
            </a:r>
            <a:br>
              <a:rPr lang="en-US" altLang="ko-KR" sz="4000" dirty="0" smtClean="0"/>
            </a:br>
            <a:r>
              <a:rPr lang="ko-KR" altLang="en-US" sz="3600" dirty="0"/>
              <a:t>스마트 수질 모니터링 시스템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37033-81EA-6B51-A7D4-72ECFA720E4E}"/>
              </a:ext>
            </a:extLst>
          </p:cNvPr>
          <p:cNvSpPr txBox="1"/>
          <p:nvPr/>
        </p:nvSpPr>
        <p:spPr>
          <a:xfrm>
            <a:off x="8935453" y="5149516"/>
            <a:ext cx="325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제출자</a:t>
            </a:r>
            <a:r>
              <a:rPr lang="en-US" altLang="ko-KR" dirty="0"/>
              <a:t>: </a:t>
            </a:r>
            <a:r>
              <a:rPr lang="ko-KR" altLang="en-US" dirty="0"/>
              <a:t>김아영</a:t>
            </a:r>
            <a:endParaRPr lang="en-US" altLang="ko-KR" dirty="0"/>
          </a:p>
          <a:p>
            <a:r>
              <a:rPr lang="ko-KR" altLang="en-US" dirty="0"/>
              <a:t>학번</a:t>
            </a:r>
            <a:r>
              <a:rPr lang="en-US" altLang="ko-KR" dirty="0"/>
              <a:t>: 202311394</a:t>
            </a:r>
          </a:p>
          <a:p>
            <a:r>
              <a:rPr lang="ko-KR" altLang="en-US" dirty="0"/>
              <a:t>과목명</a:t>
            </a:r>
            <a:r>
              <a:rPr lang="en-US" altLang="ko-KR" dirty="0"/>
              <a:t>: </a:t>
            </a:r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/>
              <a:t>활용</a:t>
            </a:r>
            <a:endParaRPr lang="en-US" altLang="ko-KR" dirty="0"/>
          </a:p>
          <a:p>
            <a:r>
              <a:rPr lang="ko-KR" altLang="en-US" dirty="0"/>
              <a:t>제출일</a:t>
            </a:r>
            <a:r>
              <a:rPr lang="en-US" altLang="ko-KR" dirty="0"/>
              <a:t>: 2025.11.20</a:t>
            </a:r>
          </a:p>
          <a:p>
            <a:r>
              <a:rPr lang="ko-KR" altLang="en-US" dirty="0"/>
              <a:t>교수님</a:t>
            </a:r>
            <a:r>
              <a:rPr lang="en-US" altLang="ko-KR" dirty="0"/>
              <a:t>:</a:t>
            </a:r>
            <a:r>
              <a:rPr lang="ko-KR" altLang="en-US" dirty="0" err="1"/>
              <a:t>김봉현교수님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1179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DFD6D-C100-3859-23B8-38273503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6205768-775F-9BBE-DDD9-A13B26E1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F2717D-8C91-2332-AF24-9442775FD055}"/>
              </a:ext>
            </a:extLst>
          </p:cNvPr>
          <p:cNvSpPr txBox="1"/>
          <p:nvPr/>
        </p:nvSpPr>
        <p:spPr>
          <a:xfrm>
            <a:off x="838200" y="1799485"/>
            <a:ext cx="202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40D17-1EE4-C353-3447-6C13AA30C1AC}"/>
              </a:ext>
            </a:extLst>
          </p:cNvPr>
          <p:cNvSpPr txBox="1"/>
          <p:nvPr/>
        </p:nvSpPr>
        <p:spPr>
          <a:xfrm>
            <a:off x="838199" y="2545443"/>
            <a:ext cx="202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활용 </a:t>
            </a:r>
            <a:r>
              <a:rPr lang="ko-KR" altLang="en-US" dirty="0" err="1"/>
              <a:t>공공데이터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4FDE5F-2D9F-64A8-E454-F876D32DB7D5}"/>
              </a:ext>
            </a:extLst>
          </p:cNvPr>
          <p:cNvSpPr txBox="1"/>
          <p:nvPr/>
        </p:nvSpPr>
        <p:spPr>
          <a:xfrm>
            <a:off x="854240" y="3243935"/>
            <a:ext cx="202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시스템 기능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B330A1-70D6-E48B-EC2F-1CBAFC5DFE7D}"/>
              </a:ext>
            </a:extLst>
          </p:cNvPr>
          <p:cNvSpPr txBox="1"/>
          <p:nvPr/>
        </p:nvSpPr>
        <p:spPr>
          <a:xfrm>
            <a:off x="854239" y="3994234"/>
            <a:ext cx="202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수질 등급 기준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D0090D-3256-B628-F367-24667BE97C16}"/>
              </a:ext>
            </a:extLst>
          </p:cNvPr>
          <p:cNvSpPr txBox="1"/>
          <p:nvPr/>
        </p:nvSpPr>
        <p:spPr>
          <a:xfrm>
            <a:off x="854239" y="4624401"/>
            <a:ext cx="2755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아두이노</a:t>
            </a:r>
            <a:r>
              <a:rPr lang="ko-KR" altLang="en-US" dirty="0"/>
              <a:t> 소스코드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35C325-75B2-6836-63D2-855199A70730}"/>
              </a:ext>
            </a:extLst>
          </p:cNvPr>
          <p:cNvSpPr txBox="1"/>
          <p:nvPr/>
        </p:nvSpPr>
        <p:spPr>
          <a:xfrm>
            <a:off x="854238" y="5269879"/>
            <a:ext cx="2755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실습 결과</a:t>
            </a:r>
          </a:p>
        </p:txBody>
      </p:sp>
    </p:spTree>
    <p:extLst>
      <p:ext uri="{BB962C8B-B14F-4D97-AF65-F5344CB8AC3E}">
        <p14:creationId xmlns:p14="http://schemas.microsoft.com/office/powerpoint/2010/main" val="2884888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DFD6D-C100-3859-23B8-38273503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6205768-775F-9BBE-DDD9-A13B26E1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프로젝트 개요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2717D-8C91-2332-AF24-9442775FD055}"/>
              </a:ext>
            </a:extLst>
          </p:cNvPr>
          <p:cNvSpPr txBox="1"/>
          <p:nvPr/>
        </p:nvSpPr>
        <p:spPr>
          <a:xfrm>
            <a:off x="838200" y="1799485"/>
            <a:ext cx="106455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본 프로젝트는 한국수자원공사의 </a:t>
            </a:r>
            <a:r>
              <a:rPr lang="ko-KR" altLang="en-US" sz="2400" i="1" dirty="0"/>
              <a:t>실시간 수도 수질 정보 </a:t>
            </a:r>
            <a:r>
              <a:rPr lang="en-US" altLang="ko-KR" sz="2400" i="1" dirty="0"/>
              <a:t>API</a:t>
            </a:r>
            <a:r>
              <a:rPr lang="ko-KR" altLang="en-US" sz="2400" dirty="0"/>
              <a:t>를 활용하여</a:t>
            </a:r>
            <a:br>
              <a:rPr lang="ko-KR" altLang="en-US" sz="2400" dirty="0"/>
            </a:br>
            <a:r>
              <a:rPr lang="ko-KR" altLang="en-US" sz="2400" dirty="0" err="1"/>
              <a:t>정수장에서</a:t>
            </a:r>
            <a:r>
              <a:rPr lang="ko-KR" altLang="en-US" sz="2400" dirty="0"/>
              <a:t> 측정된 </a:t>
            </a:r>
            <a:r>
              <a:rPr lang="ko-KR" altLang="en-US" sz="2400" b="1" dirty="0"/>
              <a:t>탁도</a:t>
            </a:r>
            <a:r>
              <a:rPr lang="en-US" altLang="ko-KR" sz="2400" b="1" dirty="0"/>
              <a:t>(</a:t>
            </a:r>
            <a:r>
              <a:rPr lang="en-US" altLang="ko-KR" sz="2400" b="1" dirty="0" err="1"/>
              <a:t>tbVal</a:t>
            </a:r>
            <a:r>
              <a:rPr lang="en-US" altLang="ko-KR" sz="2400" b="1" dirty="0"/>
              <a:t>)</a:t>
            </a:r>
            <a:r>
              <a:rPr lang="en-US" altLang="ko-KR" sz="2400" dirty="0"/>
              <a:t>, </a:t>
            </a:r>
            <a:r>
              <a:rPr lang="en-US" altLang="ko-KR" sz="2400" b="1" dirty="0"/>
              <a:t>pH(</a:t>
            </a:r>
            <a:r>
              <a:rPr lang="en-US" altLang="ko-KR" sz="2400" b="1" dirty="0" err="1"/>
              <a:t>phVal</a:t>
            </a:r>
            <a:r>
              <a:rPr lang="en-US" altLang="ko-KR" sz="2400" b="1" dirty="0"/>
              <a:t>)</a:t>
            </a:r>
            <a:r>
              <a:rPr lang="en-US" altLang="ko-KR" sz="2400" dirty="0"/>
              <a:t>, </a:t>
            </a:r>
            <a:r>
              <a:rPr lang="ko-KR" altLang="en-US" sz="2400" b="1" dirty="0"/>
              <a:t>잔류염소</a:t>
            </a:r>
            <a:r>
              <a:rPr lang="en-US" altLang="ko-KR" sz="2400" b="1" dirty="0"/>
              <a:t>(</a:t>
            </a:r>
            <a:r>
              <a:rPr lang="en-US" altLang="ko-KR" sz="2400" b="1" dirty="0" err="1"/>
              <a:t>clVal</a:t>
            </a:r>
            <a:r>
              <a:rPr lang="en-US" altLang="ko-KR" sz="2400" b="1" dirty="0"/>
              <a:t>)</a:t>
            </a:r>
            <a:r>
              <a:rPr lang="ko-KR" altLang="en-US" sz="2400" dirty="0"/>
              <a:t> 값을 실시간으로 수집하고</a:t>
            </a:r>
            <a:br>
              <a:rPr lang="ko-KR" altLang="en-US" sz="2400" dirty="0"/>
            </a:br>
            <a:r>
              <a:rPr lang="ko-KR" altLang="en-US" sz="2400" dirty="0"/>
              <a:t>이를 </a:t>
            </a:r>
            <a:r>
              <a:rPr lang="ko-KR" altLang="en-US" sz="2400" dirty="0" err="1"/>
              <a:t>아두이노의</a:t>
            </a:r>
            <a:r>
              <a:rPr lang="ko-KR" altLang="en-US" sz="2400" dirty="0"/>
              <a:t> </a:t>
            </a:r>
            <a:r>
              <a:rPr lang="en-US" altLang="ko-KR" sz="2400" b="1" dirty="0"/>
              <a:t>7-Segment Display(FND)</a:t>
            </a:r>
            <a:r>
              <a:rPr lang="ko-KR" altLang="en-US" sz="2400" dirty="0"/>
              <a:t> 와 </a:t>
            </a:r>
            <a:r>
              <a:rPr lang="en-US" altLang="ko-KR" sz="2400" b="1" dirty="0"/>
              <a:t>RGB LED</a:t>
            </a:r>
            <a:r>
              <a:rPr lang="ko-KR" altLang="en-US" sz="2400" dirty="0"/>
              <a:t>로 시각화하는 시스템이다</a:t>
            </a:r>
            <a:r>
              <a:rPr lang="en-US" altLang="ko-KR" sz="2400" dirty="0"/>
              <a:t>.</a:t>
            </a:r>
            <a:br>
              <a:rPr lang="en-US" altLang="ko-KR" sz="2400" dirty="0"/>
            </a:br>
            <a:r>
              <a:rPr lang="ko-KR" altLang="en-US" sz="2400" dirty="0" err="1"/>
              <a:t>탁도는</a:t>
            </a:r>
            <a:r>
              <a:rPr lang="ko-KR" altLang="en-US" sz="2400" dirty="0"/>
              <a:t> </a:t>
            </a:r>
            <a:r>
              <a:rPr lang="en-US" altLang="ko-KR" sz="2400" dirty="0"/>
              <a:t>7-Segment</a:t>
            </a:r>
            <a:r>
              <a:rPr lang="ko-KR" altLang="en-US" sz="2400" dirty="0"/>
              <a:t>에 표시되고</a:t>
            </a:r>
            <a:r>
              <a:rPr lang="en-US" altLang="ko-KR" sz="2400" dirty="0"/>
              <a:t>, pH </a:t>
            </a:r>
            <a:r>
              <a:rPr lang="ko-KR" altLang="en-US" sz="2400" dirty="0"/>
              <a:t>값은 산성</a:t>
            </a:r>
            <a:r>
              <a:rPr lang="en-US" altLang="ko-KR" sz="2400" dirty="0"/>
              <a:t>/</a:t>
            </a:r>
            <a:r>
              <a:rPr lang="ko-KR" altLang="en-US" sz="2400" dirty="0"/>
              <a:t>중성</a:t>
            </a:r>
            <a:r>
              <a:rPr lang="en-US" altLang="ko-KR" sz="2400" dirty="0"/>
              <a:t>/</a:t>
            </a:r>
            <a:r>
              <a:rPr lang="ko-KR" altLang="en-US" sz="2400" dirty="0"/>
              <a:t>알칼리 상태에 따라 </a:t>
            </a:r>
            <a:r>
              <a:rPr lang="en-US" altLang="ko-KR" sz="2400" dirty="0"/>
              <a:t>RGB LED</a:t>
            </a:r>
            <a:r>
              <a:rPr lang="ko-KR" altLang="en-US" sz="2400" dirty="0"/>
              <a:t>로 표시된다</a:t>
            </a:r>
          </a:p>
        </p:txBody>
      </p:sp>
    </p:spTree>
    <p:extLst>
      <p:ext uri="{BB962C8B-B14F-4D97-AF65-F5344CB8AC3E}">
        <p14:creationId xmlns:p14="http://schemas.microsoft.com/office/powerpoint/2010/main" val="4163291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DFD6D-C100-3859-23B8-38273503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6205768-775F-9BBE-DDD9-A13B26E1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활용 </a:t>
            </a:r>
            <a:r>
              <a:rPr lang="ko-KR" altLang="en-US" dirty="0" err="1" smtClean="0"/>
              <a:t>공공데이터</a:t>
            </a:r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553444"/>
              </p:ext>
            </p:extLst>
          </p:nvPr>
        </p:nvGraphicFramePr>
        <p:xfrm>
          <a:off x="838200" y="3000831"/>
          <a:ext cx="5643282" cy="3265500"/>
        </p:xfrm>
        <a:graphic>
          <a:graphicData uri="http://schemas.openxmlformats.org/drawingml/2006/table">
            <a:tbl>
              <a:tblPr/>
              <a:tblGrid>
                <a:gridCol w="1881094">
                  <a:extLst>
                    <a:ext uri="{9D8B030D-6E8A-4147-A177-3AD203B41FA5}">
                      <a16:colId xmlns:a16="http://schemas.microsoft.com/office/drawing/2014/main" val="4130685694"/>
                    </a:ext>
                  </a:extLst>
                </a:gridCol>
                <a:gridCol w="1881094">
                  <a:extLst>
                    <a:ext uri="{9D8B030D-6E8A-4147-A177-3AD203B41FA5}">
                      <a16:colId xmlns:a16="http://schemas.microsoft.com/office/drawing/2014/main" val="4084510510"/>
                    </a:ext>
                  </a:extLst>
                </a:gridCol>
                <a:gridCol w="1881094">
                  <a:extLst>
                    <a:ext uri="{9D8B030D-6E8A-4147-A177-3AD203B41FA5}">
                      <a16:colId xmlns:a16="http://schemas.microsoft.com/office/drawing/2014/main" val="3770025518"/>
                    </a:ext>
                  </a:extLst>
                </a:gridCol>
              </a:tblGrid>
              <a:tr h="816375">
                <a:tc>
                  <a:txBody>
                    <a:bodyPr/>
                    <a:lstStyle/>
                    <a:p>
                      <a:r>
                        <a:rPr lang="ko-KR" altLang="en-US"/>
                        <a:t>수집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672969"/>
                  </a:ext>
                </a:extLst>
              </a:tr>
              <a:tr h="816375">
                <a:tc>
                  <a:txBody>
                    <a:bodyPr/>
                    <a:lstStyle/>
                    <a:p>
                      <a:r>
                        <a:rPr lang="en-US" b="1"/>
                        <a:t>tbVal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탁도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NTU)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FND</a:t>
                      </a:r>
                      <a:r>
                        <a:rPr lang="ko-KR" altLang="en-US"/>
                        <a:t>로 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297869"/>
                  </a:ext>
                </a:extLst>
              </a:tr>
              <a:tr h="816375">
                <a:tc>
                  <a:txBody>
                    <a:bodyPr/>
                    <a:lstStyle/>
                    <a:p>
                      <a:r>
                        <a:rPr lang="en-US" b="1"/>
                        <a:t>phVal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pH</a:t>
                      </a:r>
                      <a:r>
                        <a:rPr lang="ko-KR" altLang="en-US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RGB LED </a:t>
                      </a:r>
                      <a:r>
                        <a:rPr lang="ko-KR" altLang="en-US"/>
                        <a:t>색으로 상태 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5459630"/>
                  </a:ext>
                </a:extLst>
              </a:tr>
              <a:tr h="816375">
                <a:tc>
                  <a:txBody>
                    <a:bodyPr/>
                    <a:lstStyle/>
                    <a:p>
                      <a:r>
                        <a:rPr lang="en-US" b="1"/>
                        <a:t>clVal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잔류염소 농도</a:t>
                      </a:r>
                      <a:r>
                        <a:rPr lang="en-US" altLang="ko-KR"/>
                        <a:t>(mg/L)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화면 출력 또는 부가정보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28541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4F2717D-8C91-2332-AF24-9442775FD055}"/>
              </a:ext>
            </a:extLst>
          </p:cNvPr>
          <p:cNvSpPr txBox="1"/>
          <p:nvPr/>
        </p:nvSpPr>
        <p:spPr>
          <a:xfrm>
            <a:off x="838200" y="1799485"/>
            <a:ext cx="1064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한국수자원공사</a:t>
            </a:r>
            <a:r>
              <a:rPr lang="en-US" altLang="ko-KR" dirty="0"/>
              <a:t>_</a:t>
            </a:r>
            <a:r>
              <a:rPr lang="ko-KR" altLang="en-US" dirty="0"/>
              <a:t>실시간 </a:t>
            </a:r>
            <a:r>
              <a:rPr lang="ko-KR" altLang="en-US" dirty="0" err="1"/>
              <a:t>수도정보</a:t>
            </a:r>
            <a:r>
              <a:rPr lang="ko-KR" altLang="en-US" dirty="0"/>
              <a:t> 수질</a:t>
            </a:r>
            <a:r>
              <a:rPr lang="en-US" altLang="ko-KR" dirty="0"/>
              <a:t>(</a:t>
            </a:r>
            <a:r>
              <a:rPr lang="ko-KR" altLang="en-US" dirty="0"/>
              <a:t>시간</a:t>
            </a:r>
            <a:r>
              <a:rPr lang="en-US" altLang="ko-KR" dirty="0"/>
              <a:t>) </a:t>
            </a:r>
            <a:r>
              <a:rPr lang="ko-KR" altLang="en-US" dirty="0"/>
              <a:t>조회 서비스</a:t>
            </a:r>
            <a:r>
              <a:rPr lang="en-US" altLang="ko-KR" dirty="0"/>
              <a:t>(GW</a:t>
            </a:r>
            <a:r>
              <a:rPr lang="en-US" altLang="ko-KR" dirty="0" smtClean="0"/>
              <a:t>)- </a:t>
            </a:r>
            <a:r>
              <a:rPr lang="en-US" altLang="ko-KR" dirty="0"/>
              <a:t>1</a:t>
            </a:r>
            <a:r>
              <a:rPr lang="ko-KR" altLang="en-US" dirty="0"/>
              <a:t>시간 </a:t>
            </a:r>
            <a:r>
              <a:rPr lang="ko-KR" altLang="en-US" dirty="0" err="1"/>
              <a:t>수질정보</a:t>
            </a:r>
            <a:r>
              <a:rPr lang="ko-KR" altLang="en-US" dirty="0"/>
              <a:t> 조회 </a:t>
            </a:r>
            <a:r>
              <a:rPr lang="ko-KR" altLang="en-US" dirty="0" smtClean="0"/>
              <a:t>서비스를 사용함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647" y="2420471"/>
            <a:ext cx="4491318" cy="426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85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DFD6D-C100-3859-23B8-38273503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6205768-775F-9BBE-DDD9-A13B26E1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기능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17358" y="2038144"/>
            <a:ext cx="10387587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한국수자원공사 수질 </a:t>
            </a:r>
            <a:r>
              <a:rPr kumimoji="0" lang="ko-KR" altLang="ko-K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API로부터</a:t>
            </a: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탁도(</a:t>
            </a:r>
            <a:r>
              <a:rPr kumimoji="0" lang="ko-KR" altLang="ko-K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tbVal</a:t>
            </a: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ko-KR" altLang="ko-K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</a:t>
            </a: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phVal</a:t>
            </a: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</a:t>
            </a:r>
            <a:endParaRPr kumimoji="0" lang="en-US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잔류염소(</a:t>
            </a:r>
            <a:r>
              <a:rPr kumimoji="0" lang="ko-KR" altLang="ko-K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clVal</a:t>
            </a: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수집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탁도(</a:t>
            </a:r>
            <a:r>
              <a:rPr kumimoji="0" lang="ko-KR" altLang="ko-K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tbVal</a:t>
            </a: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7-Segment(FND)에 실시간 표시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</a:t>
            </a: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값을 기준으로 수질 상태를 RGB </a:t>
            </a:r>
            <a:r>
              <a:rPr kumimoji="0" lang="ko-KR" altLang="ko-K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LED로</a:t>
            </a: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표현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</a:t>
            </a: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&lt; 6.5 : </a:t>
            </a:r>
            <a:r>
              <a:rPr kumimoji="0" lang="ko-KR" altLang="ko-K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빨강 (산성)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6.5 ≤ </a:t>
            </a:r>
            <a:r>
              <a:rPr kumimoji="0" lang="ko-KR" altLang="ko-K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</a:t>
            </a: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≤ 7.5 : </a:t>
            </a:r>
            <a:r>
              <a:rPr kumimoji="0" lang="ko-KR" altLang="ko-K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초록 (중성)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</a:t>
            </a:r>
            <a:r>
              <a:rPr kumimoji="0" lang="ko-KR" altLang="ko-K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&gt; 7.5 : </a:t>
            </a:r>
            <a:r>
              <a:rPr kumimoji="0" lang="ko-KR" altLang="ko-K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파랑 (알칼리)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17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DFD6D-C100-3859-23B8-38273503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6205768-775F-9BBE-DDD9-A13B26E1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수질 등급 기준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273894"/>
              </p:ext>
            </p:extLst>
          </p:nvPr>
        </p:nvGraphicFramePr>
        <p:xfrm>
          <a:off x="838200" y="2053390"/>
          <a:ext cx="10515600" cy="373781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78948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097410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51797862"/>
                    </a:ext>
                  </a:extLst>
                </a:gridCol>
              </a:tblGrid>
              <a:tr h="465221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LED </a:t>
                      </a:r>
                      <a:r>
                        <a:rPr lang="ko-KR" altLang="en-US" dirty="0"/>
                        <a:t>색상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332559"/>
                  </a:ext>
                </a:extLst>
              </a:tr>
              <a:tr h="1090863">
                <a:tc>
                  <a:txBody>
                    <a:bodyPr/>
                    <a:lstStyle/>
                    <a:p>
                      <a:r>
                        <a:rPr lang="en-US" dirty="0"/>
                        <a:t>pH &lt; 6.5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산성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빨강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910435"/>
                  </a:ext>
                </a:extLst>
              </a:tr>
              <a:tr h="1090863">
                <a:tc>
                  <a:txBody>
                    <a:bodyPr/>
                    <a:lstStyle/>
                    <a:p>
                      <a:r>
                        <a:rPr lang="en-US"/>
                        <a:t>6.5 ≤ pH ≤ 7.5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중성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정상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초록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956826"/>
                  </a:ext>
                </a:extLst>
              </a:tr>
              <a:tr h="1090863">
                <a:tc>
                  <a:txBody>
                    <a:bodyPr/>
                    <a:lstStyle/>
                    <a:p>
                      <a:r>
                        <a:rPr lang="en-US"/>
                        <a:t>pH &gt; 7.5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알칼리성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파랑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843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801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DFD6D-C100-3859-23B8-38273503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6205768-775F-9BBE-DDD9-A13B26E1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아두이노</a:t>
            </a:r>
            <a:r>
              <a:rPr lang="ko-KR" altLang="en-US" dirty="0"/>
              <a:t> </a:t>
            </a:r>
            <a:r>
              <a:rPr lang="ko-KR" altLang="en-US" dirty="0" smtClean="0"/>
              <a:t>소스코드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631" y="1690688"/>
            <a:ext cx="7006390" cy="469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55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DFD6D-C100-3859-23B8-38273503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6205768-775F-9BBE-DDD9-A13B26E1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아두이노</a:t>
            </a:r>
            <a:r>
              <a:rPr lang="ko-KR" altLang="en-US" dirty="0"/>
              <a:t> </a:t>
            </a:r>
            <a:r>
              <a:rPr lang="ko-KR" altLang="en-US" dirty="0" smtClean="0"/>
              <a:t>소스코드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68" y="1470610"/>
            <a:ext cx="9416716" cy="521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222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DFD6D-C100-3859-23B8-38273503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6205768-775F-9BBE-DDD9-A13B26E1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아두이노</a:t>
            </a:r>
            <a:r>
              <a:rPr lang="ko-KR" altLang="en-US" dirty="0"/>
              <a:t> </a:t>
            </a:r>
            <a:r>
              <a:rPr lang="ko-KR" altLang="en-US" dirty="0" smtClean="0"/>
              <a:t>소스코드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919" y="1690687"/>
            <a:ext cx="7373102" cy="483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226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DFD6D-C100-3859-23B8-38273503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6205768-775F-9BBE-DDD9-A13B26E1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ko-KR" altLang="en-US" dirty="0" smtClean="0"/>
              <a:t>결과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88" y="1999748"/>
            <a:ext cx="5019675" cy="294121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557" y="233280"/>
            <a:ext cx="4968541" cy="536541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586288" y="5377934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dirty="0" err="1" smtClean="0">
                <a:latin typeface="Arial" panose="020B0604020202020204" pitchFamily="34" charset="0"/>
              </a:rPr>
              <a:t>파이썬</a:t>
            </a:r>
            <a:r>
              <a:rPr lang="ko-KR" altLang="en-US" dirty="0" smtClean="0">
                <a:latin typeface="Arial" panose="020B0604020202020204" pitchFamily="34" charset="0"/>
              </a:rPr>
              <a:t> 결과</a:t>
            </a:r>
            <a:endParaRPr lang="en-US" altLang="ko-KR" dirty="0"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946982" y="5883260"/>
            <a:ext cx="1633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dirty="0" err="1" smtClean="0">
                <a:latin typeface="Arial" panose="020B0604020202020204" pitchFamily="34" charset="0"/>
              </a:rPr>
              <a:t>이두이노</a:t>
            </a:r>
            <a:r>
              <a:rPr lang="ko-KR" altLang="en-US" dirty="0" smtClean="0">
                <a:latin typeface="Arial" panose="020B0604020202020204" pitchFamily="34" charset="0"/>
              </a:rPr>
              <a:t> 결과</a:t>
            </a:r>
            <a:endParaRPr lang="en-US" altLang="ko-K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476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DFD6D-C100-3859-23B8-38273503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6205768-775F-9BBE-DDD9-A13B26E10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863" y="2514767"/>
            <a:ext cx="3862137" cy="1325563"/>
          </a:xfrm>
        </p:spPr>
        <p:txBody>
          <a:bodyPr/>
          <a:lstStyle/>
          <a:p>
            <a:pPr algn="ctr"/>
            <a:r>
              <a:rPr lang="ko-KR" altLang="en-US" dirty="0" smtClean="0"/>
              <a:t>감사합니다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5533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261</Words>
  <Application>Microsoft Office PowerPoint</Application>
  <PresentationFormat>와이드스크린</PresentationFormat>
  <Paragraphs>59</Paragraphs>
  <Slides>11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한국수자원공사 실시간 수도 수질(시간) 조회 서비스 기반 스마트 수질 모니터링 시스템</vt:lpstr>
      <vt:lpstr>목차</vt:lpstr>
      <vt:lpstr>프로젝트 개요</vt:lpstr>
      <vt:lpstr>활용 공공데이터</vt:lpstr>
      <vt:lpstr>시스템 기능</vt:lpstr>
      <vt:lpstr>수질 등급 기준</vt:lpstr>
      <vt:lpstr>아두이노 소스코드</vt:lpstr>
      <vt:lpstr>아두이노 소스코드</vt:lpstr>
      <vt:lpstr>아두이노 소스코드</vt:lpstr>
      <vt:lpstr>실습 결과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한국수자원공사 실시간 수도 수질(시간) 조회 서비스 기반 스마트 수질 모니터링 시스템</dc:title>
  <dc:creator>김 아영</dc:creator>
  <cp:lastModifiedBy>LG0001</cp:lastModifiedBy>
  <cp:revision>9</cp:revision>
  <dcterms:created xsi:type="dcterms:W3CDTF">2025-11-19T14:13:27Z</dcterms:created>
  <dcterms:modified xsi:type="dcterms:W3CDTF">2025-11-19T16:11:41Z</dcterms:modified>
</cp:coreProperties>
</file>